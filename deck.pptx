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ylorparsons/cortege-hackath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ylorparsons/cortege-hackath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360" y="1005840"/>
            <a:ext cx="640080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6200" b="0" i="0">
                <a:solidFill>
                  <a:srgbClr val="F0EAD8"/>
                </a:solidFill>
                <a:latin typeface="Cormorant Garamond"/>
              </a:rPr>
              <a:t>CORTEGE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0"/>
            <a:ext cx="7498079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900" b="0" i="0">
                <a:solidFill>
                  <a:srgbClr val="8C8272"/>
                </a:solidFill>
                <a:latin typeface="Outfit"/>
              </a:rPr>
              <a:t>AI Security Companions for Every Household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5584" y="233172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69264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Taylor Parsons  ·  Rich Rosenthal  ·  Jennifer McKinney  ·  March 2026 AI Agents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931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C8272"/>
                </a:solidFill>
                <a:latin typeface="Outfit"/>
                <a:hlinkClick r:id="rId2"/>
              </a:rPr>
              <a:t>github.com/taylorparsons/cortege-hackathon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38404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1051560"/>
            <a:ext cx="43891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1" i="0">
                <a:solidFill>
                  <a:srgbClr val="E8A838"/>
                </a:solidFill>
                <a:latin typeface="Cormorant Garamond"/>
              </a:rPr>
              <a:t>$64B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1719072"/>
            <a:ext cx="475488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lost to scams in the US in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5584" y="214884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17320" y="2468880"/>
            <a:ext cx="9326880" cy="1234440"/>
          </a:xfrm>
          <a:prstGeom prst="roundRect">
            <a:avLst/>
          </a:prstGeom>
          <a:solidFill>
            <a:srgbClr val="1A140C"/>
          </a:solidFill>
          <a:ln w="254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868680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0" i="0">
                <a:solidFill>
                  <a:srgbClr val="F0EAD8"/>
                </a:solidFill>
                <a:latin typeface="Cormorant Garamond"/>
              </a:rPr>
              <a:t>"Grandma, it's me — I'm in trouble and I need money right now."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977639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A838"/>
                </a:solidFill>
                <a:latin typeface="Outfit"/>
              </a:rPr>
              <a:t>77%</a:t>
            </a:r>
            <a:r>
              <a:rPr sz="1600" b="0">
                <a:solidFill>
                  <a:srgbClr val="8C8272"/>
                </a:solidFill>
                <a:latin typeface="Outfit"/>
              </a:rPr>
              <a:t> of Americans encounter scams daily. </a:t>
            </a:r>
            <a:r>
              <a:rPr sz="1600" b="1">
                <a:solidFill>
                  <a:srgbClr val="E8A838"/>
                </a:solidFill>
                <a:latin typeface="Outfit"/>
              </a:rPr>
              <a:t>7 in 10</a:t>
            </a:r>
            <a:r>
              <a:rPr sz="1600" b="0">
                <a:solidFill>
                  <a:srgbClr val="8C8272"/>
                </a:solidFill>
                <a:latin typeface="Outfit"/>
              </a:rPr>
              <a:t> were scammed last year.</a:t>
            </a:r>
          </a:p>
          <a:p>
            <a:pPr algn="ctr"/>
            <a:r>
              <a:rPr sz="1600" b="0">
                <a:solidFill>
                  <a:srgbClr val="8C8272"/>
                </a:solidFill>
                <a:latin typeface="Outfit"/>
              </a:rPr>
              <a:t>Only </a:t>
            </a:r>
            <a:r>
              <a:rPr sz="1600" b="1">
                <a:solidFill>
                  <a:srgbClr val="E85D5D"/>
                </a:solidFill>
                <a:latin typeface="Outfit"/>
              </a:rPr>
              <a:t>44%</a:t>
            </a:r>
            <a:r>
              <a:rPr sz="1600" b="0">
                <a:solidFill>
                  <a:srgbClr val="8C8272"/>
                </a:solidFill>
                <a:latin typeface="Outfit"/>
              </a:rPr>
              <a:t> recover any money. One call. Life savings gone.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4937760"/>
            <a:ext cx="841248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6A5F50"/>
                </a:solidFill>
                <a:latin typeface="Outfit"/>
              </a:rPr>
              <a:t>Fraud filters catch known patterns. They don't know your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330952"/>
            <a:ext cx="7498079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00" b="0" i="0">
                <a:solidFill>
                  <a:srgbClr val="6A5F50"/>
                </a:solidFill>
                <a:latin typeface="Outfit"/>
              </a:rPr>
              <a:t>Source: State of Scams USA 2025 — GASA / Iris Powered by Generali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0EAD8"/>
                </a:solidFill>
                <a:latin typeface="Outfit"/>
              </a:rPr>
              <a:t>Every household member gets a </a:t>
            </a:r>
            <a:r>
              <a:rPr sz="1800" b="1">
                <a:solidFill>
                  <a:srgbClr val="E8A838"/>
                </a:solidFill>
                <a:latin typeface="Outfit"/>
              </a:rPr>
              <a:t>dedicated AI companion</a:t>
            </a:r>
          </a:p>
          <a:p>
            <a:pPr algn="ctr"/>
            <a:r>
              <a:rPr sz="1800">
                <a:solidFill>
                  <a:srgbClr val="F0EAD8"/>
                </a:solidFill>
                <a:latin typeface="Outfit"/>
              </a:rPr>
              <a:t>that learns their patterns and silently protects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E8A838"/>
                </a:solidFill>
                <a:latin typeface="Cormorant Garamond"/>
              </a:rPr>
              <a:t>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Senior Protection
Patience-first, scam interception,
trusted contact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⚔️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4ECDC4"/>
                </a:solidFill>
                <a:latin typeface="Cormorant Garamond"/>
              </a:rPr>
              <a:t>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Adult Protection
Primary coordinator, household
orchestration, threat relay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011680"/>
            <a:ext cx="2743200" cy="224028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176272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200" b="0" i="0">
                <a:solidFill>
                  <a:srgbClr val="F0EAD8"/>
                </a:solidFill>
                <a:latin typeface="Outfit"/>
              </a:rPr>
              <a:t>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532888"/>
            <a:ext cx="23774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7B9EC9"/>
                </a:solidFill>
                <a:latin typeface="Cormorant Garamond"/>
              </a:rPr>
              <a:t>SCOUT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2907792"/>
            <a:ext cx="2340864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8C8272"/>
                </a:solidFill>
                <a:latin typeface="Outfit"/>
              </a:rPr>
              <a:t>Teen Protection
Age-appropriate, social
engineering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841248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6A5F50"/>
                </a:solidFill>
                <a:latin typeface="Outfit"/>
              </a:rPr>
              <a:t>Not a chatbot. Not a filter. A companion that knows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How It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91440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Each companion deepens its understanding over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417320"/>
            <a:ext cx="164592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453896"/>
            <a:ext cx="159105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17320"/>
            <a:ext cx="224028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9232" y="1453896"/>
            <a:ext cx="218541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Pattern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951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417320"/>
            <a:ext cx="1600200" cy="502920"/>
          </a:xfrm>
          <a:prstGeom prst="roundRect">
            <a:avLst/>
          </a:prstGeom>
          <a:solidFill>
            <a:srgbClr val="3A2C12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9552" y="1453896"/>
            <a:ext cx="154533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E8A838"/>
                </a:solidFill>
                <a:latin typeface="Outfit"/>
              </a:rPr>
              <a:t>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463040"/>
            <a:ext cx="320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0" i="0">
                <a:solidFill>
                  <a:srgbClr val="6A5F50"/>
                </a:solidFill>
                <a:latin typeface="Outfit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417320"/>
            <a:ext cx="1828800" cy="502920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1" y="1453896"/>
            <a:ext cx="1773936" cy="393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F0EAD8"/>
                </a:solidFill>
                <a:latin typeface="Outfit"/>
              </a:rPr>
              <a:t>Cortege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5584" y="224028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560320"/>
            <a:ext cx="7955279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8C8272"/>
                </a:solidFill>
                <a:latin typeface="Outfit"/>
              </a:rPr>
              <a:t>Day 1 — it listens.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83210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8C8272"/>
                </a:solidFill>
                <a:latin typeface="Outfit"/>
              </a:rPr>
              <a:t>Week 1 — it recognizes who usually calls.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28416"/>
            <a:ext cx="877824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E8A838"/>
                </a:solidFill>
                <a:latin typeface="Outfit"/>
              </a:rPr>
              <a:t>Week 2 — it blocks the scam before Grandma picks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4160520"/>
            <a:ext cx="1965960" cy="566928"/>
          </a:xfrm>
          <a:prstGeom prst="rect">
            <a:avLst/>
          </a:prstGeom>
          <a:solidFill>
            <a:srgbClr val="14312A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L0
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160520"/>
            <a:ext cx="1965960" cy="566928"/>
          </a:xfrm>
          <a:prstGeom prst="rect">
            <a:avLst/>
          </a:prstGeom>
          <a:solidFill>
            <a:srgbClr val="16352F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L1
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160520"/>
            <a:ext cx="1965960" cy="566928"/>
          </a:xfrm>
          <a:prstGeom prst="rect">
            <a:avLst/>
          </a:prstGeom>
          <a:solidFill>
            <a:srgbClr val="2D24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L2
Monitor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160520"/>
            <a:ext cx="1965960" cy="566928"/>
          </a:xfrm>
          <a:prstGeom prst="rect">
            <a:avLst/>
          </a:prstGeom>
          <a:solidFill>
            <a:srgbClr val="4A3715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F0EAD8"/>
                </a:solidFill>
                <a:latin typeface="Outfit"/>
              </a:rPr>
              <a:t>L3
Notify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4160520"/>
            <a:ext cx="1965960" cy="566928"/>
          </a:xfrm>
          <a:prstGeom prst="rect">
            <a:avLst/>
          </a:prstGeom>
          <a:solidFill>
            <a:srgbClr val="4D1F1F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0" y="4169663"/>
            <a:ext cx="1965960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1" i="0">
                <a:solidFill>
                  <a:srgbClr val="E85D5D"/>
                </a:solidFill>
                <a:latin typeface="Outfit"/>
              </a:rPr>
              <a:t>L4
Block +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92040"/>
            <a:ext cx="877824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00" b="0" i="0">
                <a:solidFill>
                  <a:srgbClr val="6A5F50"/>
                </a:solidFill>
                <a:latin typeface="Outfit"/>
              </a:rPr>
              <a:t>5-tier escalation: from silent logging to hard-blocking the call and alerting the family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38912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Live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ousehold CRUD -- saves Twilio routing numbers and primary member from the household 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6766"/>
            <a:ext cx="2971800" cy="19613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Household Editor + Twilio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raud Case Demo -- creates a household fraud case from a recent Twilio call and one evidence i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56766"/>
            <a:ext cx="2971800" cy="1961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Fraud Case 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097280"/>
            <a:ext cx="3154680" cy="3429000"/>
          </a:xfrm>
          <a:prstGeom prst="roundRect">
            <a:avLst/>
          </a:prstGeom>
          <a:solidFill>
            <a:srgbClr val="181712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nion Cards -- shows companion cards for the selected household memb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556766"/>
            <a:ext cx="2971800" cy="1961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3950208"/>
            <a:ext cx="29718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Companion Status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56692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Platform, Not Just an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86868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8C8272"/>
                </a:solidFill>
                <a:latin typeface="Outfit"/>
              </a:rPr>
              <a:t>Agent templates are </a:t>
            </a:r>
            <a:r>
              <a:rPr sz="1400" b="1">
                <a:solidFill>
                  <a:srgbClr val="E8A838"/>
                </a:solidFill>
                <a:latin typeface="Outfit"/>
              </a:rPr>
              <a:t>Markdown + YAML</a:t>
            </a:r>
            <a:r>
              <a:rPr sz="1400" b="0">
                <a:solidFill>
                  <a:srgbClr val="8C8272"/>
                </a:solidFill>
                <a:latin typeface="Outfit"/>
              </a:rPr>
              <a:t>. Create a new agent type in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444752"/>
            <a:ext cx="2103120" cy="502920"/>
          </a:xfrm>
          <a:prstGeom prst="roundRect">
            <a:avLst/>
          </a:prstGeom>
          <a:solidFill>
            <a:srgbClr val="16352F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0"/>
            <a:ext cx="2048255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Twilio Webhook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44752"/>
            <a:ext cx="1463040" cy="50292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1463040"/>
            <a:ext cx="1408176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Manual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44752"/>
            <a:ext cx="1965960" cy="50292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1463040"/>
            <a:ext cx="1911095" cy="46634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1" i="0">
                <a:solidFill>
                  <a:srgbClr val="F0EAD8"/>
                </a:solidFill>
                <a:latin typeface="Outfit"/>
              </a:rPr>
              <a:t>Scenario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029968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395728"/>
            <a:ext cx="7909560" cy="658368"/>
          </a:xfrm>
          <a:prstGeom prst="roundRect">
            <a:avLst/>
          </a:prstGeom>
          <a:solidFill>
            <a:srgbClr val="2B2111"/>
          </a:solidFill>
          <a:ln w="2032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2487168"/>
            <a:ext cx="7726679" cy="4389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 i="0">
                <a:solidFill>
                  <a:srgbClr val="F0EAD8"/>
                </a:solidFill>
                <a:latin typeface="Outfit"/>
              </a:rPr>
              <a:t>Event Bus  →  Orchestrator  →  Agent Instances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3154680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493008"/>
            <a:ext cx="301752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66160"/>
            <a:ext cx="2926079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Claude API
Haiku 4.5 +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93008"/>
            <a:ext cx="224028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214884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Memory Store
per-instance depth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93008"/>
            <a:ext cx="2788920" cy="822960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3566160"/>
            <a:ext cx="2697479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Escalation Engine
L0–L4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4526280"/>
            <a:ext cx="5029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800" b="0" i="0">
                <a:solidFill>
                  <a:srgbClr val="6A5F50"/>
                </a:solidFill>
                <a:latin typeface="Outfit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828032"/>
            <a:ext cx="10287000" cy="566928"/>
          </a:xfrm>
          <a:prstGeom prst="roundRect">
            <a:avLst/>
          </a:prstGeom>
          <a:solidFill>
            <a:srgbClr val="1B1911"/>
          </a:solidFill>
          <a:ln w="1524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901184"/>
            <a:ext cx="101041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200" b="0" i="0">
                <a:solidFill>
                  <a:srgbClr val="F0EAD8"/>
                </a:solidFill>
                <a:latin typeface="Outfit"/>
              </a:rPr>
              <a:t>SQLite  ·  Append-only event log  ·  SHA-256 hash chain  ·  PII encryption at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96128"/>
            <a:ext cx="969264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6A5F50"/>
                </a:solidFill>
                <a:latin typeface="Outfit"/>
              </a:rPr>
              <a:t>Multi-household orchestration  ·  WebSocket real-time push  ·  Hot-reload agent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68096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This Isn't a Demo — It's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🔒  PII encryption at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39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🔗  Append-only SHA-256 hash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🚨  L0–L4 escalation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3258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✅  174 passing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💰  64% cost reduction via prompt caching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39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📞  Twilio voice webhook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🏠  Multi-household data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011680"/>
            <a:ext cx="2331720" cy="475488"/>
          </a:xfrm>
          <a:prstGeom prst="roundRect">
            <a:avLst/>
          </a:prstGeom>
          <a:solidFill>
            <a:srgbClr val="1B1911"/>
          </a:solidFill>
          <a:ln w="12700"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224028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050" b="0" i="0">
                <a:solidFill>
                  <a:srgbClr val="F0EAD8"/>
                </a:solidFill>
                <a:latin typeface="Outfit"/>
              </a:rPr>
              <a:t>📝  Tamper-evident audit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288036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3246120"/>
            <a:ext cx="804672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0" i="0">
                <a:solidFill>
                  <a:srgbClr val="8C8272"/>
                </a:solidFill>
                <a:latin typeface="Outfit"/>
              </a:rPr>
              <a:t>Solo developer  ·  One week  ·  Full-stack agent orchestration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1148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0" i="0">
                <a:solidFill>
                  <a:srgbClr val="F0EAD8"/>
                </a:solidFill>
                <a:latin typeface="Cormorant Garamond"/>
              </a:rPr>
              <a:t>The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F0EAD8"/>
                </a:solidFill>
                <a:latin typeface="Cormorant Garamond"/>
              </a:rPr>
              <a:t>130M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US households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4ECDC4"/>
                </a:solidFill>
                <a:latin typeface="Cormorant Garamond"/>
              </a:rPr>
              <a:t>$64B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annual scam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024128"/>
            <a:ext cx="25603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000" b="1" i="0">
                <a:solidFill>
                  <a:srgbClr val="7B9EC9"/>
                </a:solidFill>
                <a:latin typeface="Cormorant Garamond"/>
              </a:rPr>
              <a:t>3→N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300" b="0" i="0">
                <a:solidFill>
                  <a:srgbClr val="8C8272"/>
                </a:solidFill>
                <a:latin typeface="Outfit"/>
              </a:rPr>
              <a:t>agent types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5584" y="2148840"/>
            <a:ext cx="548640" cy="27432"/>
          </a:xfrm>
          <a:prstGeom prst="rect">
            <a:avLst/>
          </a:prstGeom>
          <a:solidFill>
            <a:srgbClr val="E8A838"/>
          </a:solidFill>
          <a:ln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E8A838"/>
                </a:solidFill>
                <a:latin typeface="Outfit"/>
              </a:rPr>
              <a:t>Start: Elder care + family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71216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4ECDC4"/>
                </a:solidFill>
                <a:latin typeface="Outfit"/>
              </a:rPr>
              <a:t>Expand: Any per-person behavioral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46120"/>
            <a:ext cx="658368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8C8272"/>
                </a:solidFill>
                <a:latin typeface="Outfit"/>
              </a:rPr>
              <a:t>Health monitoring  ·  Financial guardianship  · 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39312"/>
            <a:ext cx="6309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7B9EC9"/>
                </a:solidFill>
                <a:latin typeface="Outfit"/>
              </a:rPr>
              <a:t>Moat: Behavioral depth compounds over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005072"/>
            <a:ext cx="603504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100" b="0" i="0">
                <a:solidFill>
                  <a:srgbClr val="6A5F50"/>
                </a:solidFill>
                <a:latin typeface="Outfit"/>
              </a:rPr>
              <a:t>The longer a companion runs, the harder it is to replace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4709160"/>
            <a:ext cx="8321040" cy="18288"/>
          </a:xfrm>
          <a:prstGeom prst="rect">
            <a:avLst/>
          </a:prstGeom>
          <a:solidFill>
            <a:srgbClr val="3A3428"/>
          </a:solidFill>
          <a:ln>
            <a:solidFill>
              <a:srgbClr val="3A3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C8272"/>
                </a:solidFill>
                <a:latin typeface="Outfit"/>
                <a:hlinkClick r:id="rId2"/>
              </a:rPr>
              <a:t>github.com/taylorparsons/cortege-hackathon</a:t>
            </a:r>
            <a:r>
              <a:rPr sz="1200">
                <a:solidFill>
                  <a:srgbClr val="F0EAD8"/>
                </a:solidFill>
                <a:latin typeface="Outfit"/>
              </a:rPr>
              <a:t>  ·  Taylor Parsons  ·  Rich Rosenthal  ·  Jennifer McKinney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483</Words>
  <Application>Microsoft Macintosh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Cormorant Garamond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taylor parsons</cp:lastModifiedBy>
  <cp:revision>2</cp:revision>
  <dcterms:created xsi:type="dcterms:W3CDTF">2013-01-27T09:14:16Z</dcterms:created>
  <dcterms:modified xsi:type="dcterms:W3CDTF">2026-03-21T15:27:04Z</dcterms:modified>
  <cp:category/>
</cp:coreProperties>
</file>